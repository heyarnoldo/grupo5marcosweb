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pic>
        <p:nvPicPr>
          <p:cNvPr id="3" name="Image 0" descr="C:\Users\LAB-USR-ATE\Downloads\Laboratorio2\Grupo5MarcosWeb\Paway\src\main\resources\static\images\logo-paw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621792"/>
            <a:ext cx="731520" cy="868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8321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13232" y="187452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 funciona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Paway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3529584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completo por cada ventana del sistema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49808" y="4389120"/>
            <a:ext cx="914400" cy="73152"/>
          </a:xfrm>
          <a:prstGeom prst="rect">
            <a:avLst/>
          </a:prstGeom>
          <a:solidFill>
            <a:srgbClr val="E5A644"/>
          </a:solidFill>
          <a:ln w="12700">
            <a:solidFill>
              <a:srgbClr val="E5A644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6634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Cotizar · registrar · rastrear · atender</a:t>
            </a:r>
            <a:endParaRPr lang="en-US" sz="1300" dirty="0"/>
          </a:p>
        </p:txBody>
      </p:sp>
      <p:pic>
        <p:nvPicPr>
          <p:cNvPr id="9" name="Image 1" descr="C:\Users\LAB-USR-ATE\Downloads\Laboratorio2\Grupo5MarcosWeb\Paway\src\main\resources\static\images\paway-so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645920"/>
            <a:ext cx="5760720" cy="30266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9808" y="614476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Guía funcional del proyecto web · Octubre 2026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247120" y="64922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RECORRER LAS VENTANAS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solo flujo, dos perfiles de trabajo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organiza las operaciones de envío y la atención al consumidor en una aplicación Spring Boot.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2514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828800"/>
            <a:ext cx="73152" cy="10241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0116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77824" y="23682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 y solicita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38728" y="1828800"/>
            <a:ext cx="2514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38728" y="1828800"/>
            <a:ext cx="73152" cy="1024128"/>
          </a:xfrm>
          <a:prstGeom prst="rect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20116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Envío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58184" y="23682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valida y registra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19088" y="1828800"/>
            <a:ext cx="2514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19088" y="1828800"/>
            <a:ext cx="73152" cy="10241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20116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Administración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38544" y="23682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 estados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299448" y="1828800"/>
            <a:ext cx="2514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99448" y="1828800"/>
            <a:ext cx="73152" cy="1024128"/>
          </a:xfrm>
          <a:prstGeom prst="rect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18904" y="20116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Rastreo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518904" y="23682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la guía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" y="3246120"/>
            <a:ext cx="53035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9632" y="3246120"/>
            <a:ext cx="53035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conecta las ventanas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60120" y="4032504"/>
            <a:ext cx="109728" cy="109728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88720" y="3950208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 MVC conecta rutas, formularios y servicios.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4453128"/>
            <a:ext cx="109728" cy="109728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88720" y="437083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Thymeleaf renderiza vistas HTML del lado servidor.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60120" y="4873752"/>
            <a:ext cx="109728" cy="109728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0" y="4791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Hibernate/JPA persiste entidades mediante repositorios.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60120" y="5294376"/>
            <a:ext cx="109728" cy="109728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0" y="5212080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API JSON entrega distritos según la provincia.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73952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Alcance de la demostración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6501384" y="403250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29984" y="3950208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Perfiles sin contraseña; no es autenticación real.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501384" y="445312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29984" y="437083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conserva datos en el modo normal.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501384" y="4873752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29984" y="4791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local usa H2 en memoria y se reinicia.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501384" y="529437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29984" y="5212080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respuestas de reclamos no se envían automáticamente.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TECNOLOGÍAS Y ARQUITECTURA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pantalla a los datos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capa tiene una responsabilidad y se comunica con la siguiente.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73736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E5A644"/>
          </a:solidFill>
          <a:ln w="12700">
            <a:solidFill>
              <a:srgbClr val="E5A64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4825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54480" y="18928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217627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Thymeleaf · Bootstrap 5 · JavaScript · Leaflet / OpenStreetMap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278892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2971800"/>
            <a:ext cx="457200" cy="457200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9981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MVC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554480" y="29443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Aplicación Spring Boot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22783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Controladores MVC · formularios · validación · API REST de distritos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" y="384048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4023360"/>
            <a:ext cx="457200" cy="457200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15137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54480" y="399592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Servicios y persistencia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427939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negocio · Spring Data JPA · Hibernate mapea entidades ↔ tablas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71800" y="2587752"/>
            <a:ext cx="384048" cy="182880"/>
          </a:xfrm>
          <a:prstGeom prst="downArrow">
            <a:avLst/>
          </a:prstGeom>
          <a:solidFill>
            <a:srgbClr val="D9DDE0"/>
          </a:solidFill>
          <a:ln w="12700">
            <a:solidFill>
              <a:srgbClr val="D9DDE0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3639312"/>
            <a:ext cx="384048" cy="182880"/>
          </a:xfrm>
          <a:prstGeom prst="downArrow">
            <a:avLst/>
          </a:prstGeom>
          <a:solidFill>
            <a:srgbClr val="D9DDE0"/>
          </a:solidFill>
          <a:ln w="12700">
            <a:solidFill>
              <a:srgbClr val="D9DDE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17373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E7F1F0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19933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PRODUCCIÓN / PERSISTENTE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73952" y="22860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PostgreSQL 16  +  Flyway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473952" y="272491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Flyway crea el esquema (V1) y carga los datos de ejemplo (V2). Hibernate valida el esquema; los repositorios JPA leen y guardan clientes, envíos y reclamos.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6118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73952" y="38221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 LOCAL / SIN DOCKER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73952" y="40965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H2 en memoria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473952" y="44256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local crea las tablas desde las entidades y carga datos demo. Al cerrar la app, la base temporal se reinicia.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" y="5074920"/>
            <a:ext cx="1086307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5230368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21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23744" y="5239512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lenguaje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566160" y="5230368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Maven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193792" y="5239512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36208" y="5230368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 Boot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863840" y="5239512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arranque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8906256" y="5230368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 MVC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533888" y="5239512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96112" y="5577840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Thymeleaf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86984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3566160" y="5577840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Hibernate / JPA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193792" y="5586984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236208" y="5577840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863840" y="5586984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906256" y="5577840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Flyway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533888" y="5586984"/>
            <a:ext cx="777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migraciones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Inicio | punto de entrada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Búsqueda directa de envíos por número de guía.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Accesos rápidos para enviar, rastrear y cotizar.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el proceso en tres pasos y la cobertura.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Enlaces a ayuda, privacidad, términos y reclamos.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Ingresar una guía o elegir una acción.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 al cotizador, rastreo o perfil.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Continuar el flujo elegido.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navegación y el pie de página se comparten con las demás ventanas.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4992624" y="2606040"/>
            <a:ext cx="6373368" cy="1051560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F8ED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57216" y="2761488"/>
            <a:ext cx="350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envío nos acerca.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175504" y="3118104"/>
            <a:ext cx="31866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Cotiza, envía y sigue tu paquete.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175504" y="3364992"/>
            <a:ext cx="3059217" cy="20116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66944" y="3401568"/>
            <a:ext cx="223067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Ingresa tu guía…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8306775" y="3355848"/>
            <a:ext cx="566928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61639" y="33924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Buscar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4992624" y="3831336"/>
            <a:ext cx="2051304" cy="676656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02352" y="392277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↗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02352" y="4206240"/>
            <a:ext cx="1941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Hacer envío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7117080" y="3831336"/>
            <a:ext cx="2051304" cy="676656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26808" y="392277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◎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226808" y="4206240"/>
            <a:ext cx="1941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Rastrear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1536" y="3831336"/>
            <a:ext cx="2051304" cy="676656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351264" y="392277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S/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351264" y="4206240"/>
            <a:ext cx="1941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5038344" y="4690872"/>
            <a:ext cx="6281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Lima     Huarochirí     Huaral     Cañete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Cotizador de envíos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/cotizar  |  API: /api/v1/destinos/{provincia}/distritos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Provincia, distrito, categoría, peso y cantidad.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Desglose de base, sobrepeso, recargo y total.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 cobertura, distrito y límites del paquete.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lista de distritos cambia según la provincia.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Elegir destino y características.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Calcular tarifa en el servidor.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Solicitar envío y conservar la cotización.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Fórmula: (base + sobrepeso desde 2 kg + categoría) × paquetes. El servidor recalcula el total.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Cotizador de envíos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92624" y="295351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Provincia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4992624" y="309067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65776" y="313639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Lima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252460" y="295351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Distrito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8252460" y="309067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25612" y="313639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Miraflores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992624" y="3538728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Categoría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4992624" y="3675888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65776" y="3721608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252460" y="3538728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/ cantidad</a:t>
            </a:r>
            <a:endParaRPr lang="en-US" sz="600" dirty="0"/>
          </a:p>
        </p:txBody>
      </p:sp>
      <p:sp>
        <p:nvSpPr>
          <p:cNvPr id="56" name="Shape 54"/>
          <p:cNvSpPr/>
          <p:nvPr/>
        </p:nvSpPr>
        <p:spPr>
          <a:xfrm>
            <a:off x="8252460" y="3675888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25612" y="3721608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kg  ·  2 paquetes</a:t>
            </a:r>
            <a:endParaRPr lang="en-US" sz="600" dirty="0"/>
          </a:p>
        </p:txBody>
      </p:sp>
      <p:sp>
        <p:nvSpPr>
          <p:cNvPr id="58" name="Shape 56"/>
          <p:cNvSpPr/>
          <p:nvPr/>
        </p:nvSpPr>
        <p:spPr>
          <a:xfrm>
            <a:off x="4992624" y="4178808"/>
            <a:ext cx="96012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47488" y="4215384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Calcular tarifa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8252460" y="4187952"/>
            <a:ext cx="3113532" cy="987552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F8ED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80476" y="4315968"/>
            <a:ext cx="28849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estimado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380476" y="4544568"/>
            <a:ext cx="2884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S/ 38.00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8380476" y="4901184"/>
            <a:ext cx="28849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+ sobrepeso + categoría</a:t>
            </a:r>
            <a:endParaRPr lang="en-US" sz="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Selección de perfil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Ventanas: /login  |  POST /login  |  POST /logout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continuar como Brayan, María o administrador.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consulta su historial y solicita envíos.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administrador gestiona envíos y estados.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Cerrar sesión invalida el perfil de la sesión.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Entrar o solicitar un envío.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un perfil de demostración.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Continuar al panel correspondiente.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hay autenticación con usuario y contraseña: es una selección de perfil para demostración.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4992624" y="2606040"/>
            <a:ext cx="3113532" cy="3264408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F8ED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38928" y="2880360"/>
            <a:ext cx="2857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 próximo envío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empieza contigo.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138928" y="3502152"/>
            <a:ext cx="28575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perfil, todos tus envíos.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8252460" y="2679192"/>
            <a:ext cx="31135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Elige tu espacio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252460" y="3035808"/>
            <a:ext cx="3113532" cy="39319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62188" y="312724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◯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609076" y="3127248"/>
            <a:ext cx="26563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Brayan Lopez · Cliente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8252460" y="3538728"/>
            <a:ext cx="3113532" cy="39319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62188" y="363016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◯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609076" y="3630168"/>
            <a:ext cx="26563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María Quispe · Cliente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8252460" y="4041648"/>
            <a:ext cx="3113532" cy="39319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62188" y="413308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◯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609076" y="4133088"/>
            <a:ext cx="26563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Administrador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8252460" y="4645152"/>
            <a:ext cx="311353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07324" y="4681728"/>
            <a:ext cx="30038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Continuar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Formulario de envío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Ventanas: /cliente/envios/nuevo  |  /admin/envios/nuevo  |  /admin/envios/{id}/editar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del destinatario, DNI y agencia de origen.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66090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7860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Destino, categoría, peso, cantidad y observación.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02666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94436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administración se selecciona el cliente.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39242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31012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cliente se le asigna su perfil automáticamente.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67588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Edición conserva guía, estado e historial.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Completar datos personales y del paquete.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en servidor y recalcular importe.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y volver al panel del perfil.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envío inicia como REGISTRADO y recibe una guía PW-año-correlativo.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5" name="Shape 43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envío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992624" y="2926080"/>
            <a:ext cx="2051304" cy="274320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65776" y="2980944"/>
            <a:ext cx="1959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Destinatario</a:t>
            </a:r>
            <a:endParaRPr lang="en-US" sz="570" dirty="0"/>
          </a:p>
        </p:txBody>
      </p:sp>
      <p:sp>
        <p:nvSpPr>
          <p:cNvPr id="50" name="Shape 48"/>
          <p:cNvSpPr/>
          <p:nvPr/>
        </p:nvSpPr>
        <p:spPr>
          <a:xfrm>
            <a:off x="7117080" y="2926080"/>
            <a:ext cx="2051304" cy="274320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90232" y="2980944"/>
            <a:ext cx="1959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Paquete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9241536" y="2926080"/>
            <a:ext cx="2051304" cy="274320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14688" y="2980944"/>
            <a:ext cx="1959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Detalles</a:t>
            </a:r>
            <a:endParaRPr lang="en-US" sz="570" dirty="0"/>
          </a:p>
        </p:txBody>
      </p:sp>
      <p:sp>
        <p:nvSpPr>
          <p:cNvPr id="54" name="Text 52"/>
          <p:cNvSpPr/>
          <p:nvPr/>
        </p:nvSpPr>
        <p:spPr>
          <a:xfrm>
            <a:off x="4992624" y="336499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Destinatario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4992624" y="350215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65776" y="354787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completo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252460" y="336499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DNI</a:t>
            </a:r>
            <a:endParaRPr lang="en-US" sz="600" dirty="0"/>
          </a:p>
        </p:txBody>
      </p:sp>
      <p:sp>
        <p:nvSpPr>
          <p:cNvPr id="58" name="Shape 56"/>
          <p:cNvSpPr/>
          <p:nvPr/>
        </p:nvSpPr>
        <p:spPr>
          <a:xfrm>
            <a:off x="8252460" y="350215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25612" y="354787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12345678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992624" y="395935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Agencia de origen</a:t>
            </a:r>
            <a:endParaRPr lang="en-US" sz="600" dirty="0"/>
          </a:p>
        </p:txBody>
      </p:sp>
      <p:sp>
        <p:nvSpPr>
          <p:cNvPr id="61" name="Shape 59"/>
          <p:cNvSpPr/>
          <p:nvPr/>
        </p:nvSpPr>
        <p:spPr>
          <a:xfrm>
            <a:off x="4992624" y="409651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065776" y="414223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Lima Centro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8252460" y="395935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Destino</a:t>
            </a:r>
            <a:endParaRPr lang="en-US" sz="600" dirty="0"/>
          </a:p>
        </p:txBody>
      </p:sp>
      <p:sp>
        <p:nvSpPr>
          <p:cNvPr id="64" name="Shape 62"/>
          <p:cNvSpPr/>
          <p:nvPr/>
        </p:nvSpPr>
        <p:spPr>
          <a:xfrm>
            <a:off x="8252460" y="409651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25612" y="414223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Provincia / distrito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992624" y="4553712"/>
            <a:ext cx="6373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Categoría, peso y cantidad</a:t>
            </a:r>
            <a:endParaRPr lang="en-US" sz="600" dirty="0"/>
          </a:p>
        </p:txBody>
      </p:sp>
      <p:sp>
        <p:nvSpPr>
          <p:cNvPr id="67" name="Shape 65"/>
          <p:cNvSpPr/>
          <p:nvPr/>
        </p:nvSpPr>
        <p:spPr>
          <a:xfrm>
            <a:off x="4992624" y="4690872"/>
            <a:ext cx="6373368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65776" y="4736592"/>
            <a:ext cx="6227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Textil  ·  1 kg  ·  1</a:t>
            </a:r>
            <a:endParaRPr lang="en-US" sz="600" dirty="0"/>
          </a:p>
        </p:txBody>
      </p:sp>
      <p:sp>
        <p:nvSpPr>
          <p:cNvPr id="69" name="Shape 67"/>
          <p:cNvSpPr/>
          <p:nvPr/>
        </p:nvSpPr>
        <p:spPr>
          <a:xfrm>
            <a:off x="10451592" y="5102352"/>
            <a:ext cx="91440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506456" y="5138928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envío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Panel del cliente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/cliente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los datos del cliente seleccionado.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sus envíos y estadísticas por estado.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seguir cada envío desde su guía.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Incluye acceso para cotizar un nuevo envío.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 con perfil de cliente.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el historial propio.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rastreo o iniciar otra cotización.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lista se filtra por cliente. Los perfiles son datos de demostración.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992624" y="2606040"/>
            <a:ext cx="4333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Hola, Brayan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451592" y="2606040"/>
            <a:ext cx="91440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06456" y="2642616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Nuevo envío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4992624" y="2971800"/>
            <a:ext cx="2051304" cy="438912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84064" y="3099816"/>
            <a:ext cx="1923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envíos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7117080" y="2971800"/>
            <a:ext cx="2051304" cy="438912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8520" y="3099816"/>
            <a:ext cx="1923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en tránsito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9241536" y="2971800"/>
            <a:ext cx="2051304" cy="438912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32976" y="3099816"/>
            <a:ext cx="1923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entregado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4992624" y="3538728"/>
            <a:ext cx="6373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 envíos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4992624" y="3831336"/>
            <a:ext cx="6373368" cy="256032"/>
          </a:xfrm>
          <a:prstGeom prst="rect">
            <a:avLst/>
          </a:prstGeom>
          <a:solidFill>
            <a:srgbClr val="F0F1F2"/>
          </a:solidFill>
          <a:ln w="5715">
            <a:solidFill>
              <a:srgbClr val="F0F1F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47488" y="3867912"/>
            <a:ext cx="194803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GUÍA</a:t>
            </a:r>
            <a:endParaRPr lang="en-US" sz="550" dirty="0"/>
          </a:p>
        </p:txBody>
      </p:sp>
      <p:sp>
        <p:nvSpPr>
          <p:cNvPr id="57" name="Text 55"/>
          <p:cNvSpPr/>
          <p:nvPr/>
        </p:nvSpPr>
        <p:spPr>
          <a:xfrm>
            <a:off x="7086966" y="3867912"/>
            <a:ext cx="22029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DESTINATARIO</a:t>
            </a:r>
            <a:endParaRPr lang="en-US" sz="550" dirty="0"/>
          </a:p>
        </p:txBody>
      </p:sp>
      <p:sp>
        <p:nvSpPr>
          <p:cNvPr id="58" name="Text 56"/>
          <p:cNvSpPr/>
          <p:nvPr/>
        </p:nvSpPr>
        <p:spPr>
          <a:xfrm>
            <a:off x="9381378" y="3867912"/>
            <a:ext cx="194803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4992624" y="4105656"/>
            <a:ext cx="6373368" cy="283464"/>
          </a:xfrm>
          <a:prstGeom prst="rect">
            <a:avLst/>
          </a:prstGeom>
          <a:solidFill>
            <a:srgbClr val="FFFFFF"/>
          </a:solidFill>
          <a:ln w="5715">
            <a:solidFill>
              <a:srgbClr val="F1F1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47488" y="4160520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PW-2026-0001</a:t>
            </a:r>
            <a:endParaRPr lang="en-US" sz="550" dirty="0"/>
          </a:p>
        </p:txBody>
      </p:sp>
      <p:sp>
        <p:nvSpPr>
          <p:cNvPr id="61" name="Text 59"/>
          <p:cNvSpPr/>
          <p:nvPr/>
        </p:nvSpPr>
        <p:spPr>
          <a:xfrm>
            <a:off x="7086966" y="4160520"/>
            <a:ext cx="22029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Mendoza</a:t>
            </a:r>
            <a:endParaRPr lang="en-US" sz="550" dirty="0"/>
          </a:p>
        </p:txBody>
      </p:sp>
      <p:sp>
        <p:nvSpPr>
          <p:cNvPr id="62" name="Text 60"/>
          <p:cNvSpPr/>
          <p:nvPr/>
        </p:nvSpPr>
        <p:spPr>
          <a:xfrm>
            <a:off x="9381378" y="4160520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tránsito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4992624" y="4416552"/>
            <a:ext cx="6373368" cy="283464"/>
          </a:xfrm>
          <a:prstGeom prst="rect">
            <a:avLst/>
          </a:prstGeom>
          <a:solidFill>
            <a:srgbClr val="FAFAF9"/>
          </a:solidFill>
          <a:ln w="5715">
            <a:solidFill>
              <a:srgbClr val="F1F1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47488" y="4471416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PW-2026-0002</a:t>
            </a:r>
            <a:endParaRPr lang="en-US" sz="550" dirty="0"/>
          </a:p>
        </p:txBody>
      </p:sp>
      <p:sp>
        <p:nvSpPr>
          <p:cNvPr id="65" name="Text 63"/>
          <p:cNvSpPr/>
          <p:nvPr/>
        </p:nvSpPr>
        <p:spPr>
          <a:xfrm>
            <a:off x="7086966" y="4471416"/>
            <a:ext cx="22029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Lucía Ramos</a:t>
            </a:r>
            <a:endParaRPr lang="en-US" sz="550" dirty="0"/>
          </a:p>
        </p:txBody>
      </p:sp>
      <p:sp>
        <p:nvSpPr>
          <p:cNvPr id="66" name="Text 64"/>
          <p:cNvSpPr/>
          <p:nvPr/>
        </p:nvSpPr>
        <p:spPr>
          <a:xfrm>
            <a:off x="9381378" y="4471416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Entregado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4992624" y="4727448"/>
            <a:ext cx="6373368" cy="283464"/>
          </a:xfrm>
          <a:prstGeom prst="rect">
            <a:avLst/>
          </a:prstGeom>
          <a:solidFill>
            <a:srgbClr val="FFFFFF"/>
          </a:solidFill>
          <a:ln w="5715">
            <a:solidFill>
              <a:srgbClr val="F1F1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47488" y="4782312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PW-2026-0003</a:t>
            </a:r>
            <a:endParaRPr lang="en-US" sz="550" dirty="0"/>
          </a:p>
        </p:txBody>
      </p:sp>
      <p:sp>
        <p:nvSpPr>
          <p:cNvPr id="69" name="Text 67"/>
          <p:cNvSpPr/>
          <p:nvPr/>
        </p:nvSpPr>
        <p:spPr>
          <a:xfrm>
            <a:off x="7086966" y="4782312"/>
            <a:ext cx="22029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 Salas</a:t>
            </a:r>
            <a:endParaRPr lang="en-US" sz="550" dirty="0"/>
          </a:p>
        </p:txBody>
      </p:sp>
      <p:sp>
        <p:nvSpPr>
          <p:cNvPr id="70" name="Text 68"/>
          <p:cNvSpPr/>
          <p:nvPr/>
        </p:nvSpPr>
        <p:spPr>
          <a:xfrm>
            <a:off x="9381378" y="4782312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Incidencia</a:t>
            </a:r>
            <a:endParaRPr lang="en-US" sz="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Panel administrativo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/admin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por guía o nombre del destinatario.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66090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7860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Filtra por estado y agencia de origen.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02666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94436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Paginación de cinco resultados por página.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39242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31012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Indicadores por estado y actividad por agencia.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67588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Registra, abre, edita o anula envíos.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indicadores y listado.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Filtrar o abrir el detalle de una guía.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Gestionar el envío desde su ficha.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anulación conserva guía e historial y bloquea modificaciones posteriores.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5" name="Shape 43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992624" y="2606040"/>
            <a:ext cx="4333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 administrativo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0451592" y="2606040"/>
            <a:ext cx="91440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506456" y="2642616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Registrar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4992624" y="2971800"/>
            <a:ext cx="2051304" cy="438912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84064" y="3099816"/>
            <a:ext cx="1923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registrados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7117080" y="2971800"/>
            <a:ext cx="2051304" cy="438912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208520" y="3099816"/>
            <a:ext cx="1923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en tránsito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9241536" y="2971800"/>
            <a:ext cx="2051304" cy="438912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332976" y="3099816"/>
            <a:ext cx="1923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incidencia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4992624" y="354787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Buscar guía o destinatario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4992624" y="368503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65776" y="373075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PW-2026…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8252460" y="3547872"/>
            <a:ext cx="31135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Filtrar estado / agencia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8252460" y="3685032"/>
            <a:ext cx="311353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25612" y="3730752"/>
            <a:ext cx="29672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4992624" y="3831336"/>
            <a:ext cx="6373368" cy="256032"/>
          </a:xfrm>
          <a:prstGeom prst="rect">
            <a:avLst/>
          </a:prstGeom>
          <a:solidFill>
            <a:srgbClr val="F0F1F2"/>
          </a:solidFill>
          <a:ln w="5715">
            <a:solidFill>
              <a:srgbClr val="F0F1F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47488" y="3867912"/>
            <a:ext cx="194803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GUÍA</a:t>
            </a:r>
            <a:endParaRPr lang="en-US" sz="550" dirty="0"/>
          </a:p>
        </p:txBody>
      </p:sp>
      <p:sp>
        <p:nvSpPr>
          <p:cNvPr id="64" name="Text 62"/>
          <p:cNvSpPr/>
          <p:nvPr/>
        </p:nvSpPr>
        <p:spPr>
          <a:xfrm>
            <a:off x="7086966" y="3867912"/>
            <a:ext cx="22029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DESTINATARIO</a:t>
            </a:r>
            <a:endParaRPr lang="en-US" sz="550" dirty="0"/>
          </a:p>
        </p:txBody>
      </p:sp>
      <p:sp>
        <p:nvSpPr>
          <p:cNvPr id="65" name="Text 63"/>
          <p:cNvSpPr/>
          <p:nvPr/>
        </p:nvSpPr>
        <p:spPr>
          <a:xfrm>
            <a:off x="9381378" y="3867912"/>
            <a:ext cx="194803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4992624" y="4105656"/>
            <a:ext cx="6373368" cy="283464"/>
          </a:xfrm>
          <a:prstGeom prst="rect">
            <a:avLst/>
          </a:prstGeom>
          <a:solidFill>
            <a:srgbClr val="FFFFFF"/>
          </a:solidFill>
          <a:ln w="5715">
            <a:solidFill>
              <a:srgbClr val="F1F1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047488" y="4160520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PW-2026-0001</a:t>
            </a:r>
            <a:endParaRPr lang="en-US" sz="550" dirty="0"/>
          </a:p>
        </p:txBody>
      </p:sp>
      <p:sp>
        <p:nvSpPr>
          <p:cNvPr id="68" name="Text 66"/>
          <p:cNvSpPr/>
          <p:nvPr/>
        </p:nvSpPr>
        <p:spPr>
          <a:xfrm>
            <a:off x="7086966" y="4160520"/>
            <a:ext cx="22029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Mendoza</a:t>
            </a:r>
            <a:endParaRPr lang="en-US" sz="550" dirty="0"/>
          </a:p>
        </p:txBody>
      </p:sp>
      <p:sp>
        <p:nvSpPr>
          <p:cNvPr id="69" name="Text 67"/>
          <p:cNvSpPr/>
          <p:nvPr/>
        </p:nvSpPr>
        <p:spPr>
          <a:xfrm>
            <a:off x="9381378" y="4160520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tránsito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4992624" y="4416552"/>
            <a:ext cx="6373368" cy="283464"/>
          </a:xfrm>
          <a:prstGeom prst="rect">
            <a:avLst/>
          </a:prstGeom>
          <a:solidFill>
            <a:srgbClr val="FAFAF9"/>
          </a:solidFill>
          <a:ln w="5715">
            <a:solidFill>
              <a:srgbClr val="F1F1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7488" y="4471416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PW-2026-0002</a:t>
            </a:r>
            <a:endParaRPr lang="en-US" sz="550" dirty="0"/>
          </a:p>
        </p:txBody>
      </p:sp>
      <p:sp>
        <p:nvSpPr>
          <p:cNvPr id="72" name="Text 70"/>
          <p:cNvSpPr/>
          <p:nvPr/>
        </p:nvSpPr>
        <p:spPr>
          <a:xfrm>
            <a:off x="7086966" y="4471416"/>
            <a:ext cx="22029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Lucía Ramos</a:t>
            </a:r>
            <a:endParaRPr lang="en-US" sz="550" dirty="0"/>
          </a:p>
        </p:txBody>
      </p:sp>
      <p:sp>
        <p:nvSpPr>
          <p:cNvPr id="73" name="Text 71"/>
          <p:cNvSpPr/>
          <p:nvPr/>
        </p:nvSpPr>
        <p:spPr>
          <a:xfrm>
            <a:off x="9381378" y="4471416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Entregado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4992624" y="4727448"/>
            <a:ext cx="6373368" cy="283464"/>
          </a:xfrm>
          <a:prstGeom prst="rect">
            <a:avLst/>
          </a:prstGeom>
          <a:solidFill>
            <a:srgbClr val="FFFFFF"/>
          </a:solidFill>
          <a:ln w="5715">
            <a:solidFill>
              <a:srgbClr val="F1F1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47488" y="4782312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PW-2026-0003</a:t>
            </a:r>
            <a:endParaRPr lang="en-US" sz="550" dirty="0"/>
          </a:p>
        </p:txBody>
      </p:sp>
      <p:sp>
        <p:nvSpPr>
          <p:cNvPr id="76" name="Text 74"/>
          <p:cNvSpPr/>
          <p:nvPr/>
        </p:nvSpPr>
        <p:spPr>
          <a:xfrm>
            <a:off x="7086966" y="4782312"/>
            <a:ext cx="22029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 Salas</a:t>
            </a:r>
            <a:endParaRPr lang="en-US" sz="550" dirty="0"/>
          </a:p>
        </p:txBody>
      </p:sp>
      <p:sp>
        <p:nvSpPr>
          <p:cNvPr id="77" name="Text 75"/>
          <p:cNvSpPr/>
          <p:nvPr/>
        </p:nvSpPr>
        <p:spPr>
          <a:xfrm>
            <a:off x="9381378" y="4782312"/>
            <a:ext cx="194803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Incidencia</a:t>
            </a:r>
            <a:endParaRPr lang="en-US" sz="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Detalle del envío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/admin/envios/{id}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de cliente, destinatario, origen y destino.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66090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7860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paquetes, peso, importe y guía.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02666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94436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el historial completo de estados.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39242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31012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Enlaza al rastreo público y a la edición.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67588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añadir estado y observación.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Ver desde administración.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datos e historial.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Actualizar estado y registrar observación.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queda disponible en el rastreo público; los envíos anulados no se editan.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5" name="Shape 43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PW-2026-0001  ·  En tránsito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992624" y="3374136"/>
            <a:ext cx="3113532" cy="1335024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02352" y="3483864"/>
            <a:ext cx="29306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DEL ENVÍO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102352" y="3749040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Origen · Lima Centro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102352" y="3950208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Destino · Chancay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5102352" y="4151376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Paquetes · 1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5102352" y="4352544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· 1 kg</a:t>
            </a:r>
            <a:endParaRPr lang="en-US" sz="600" dirty="0"/>
          </a:p>
        </p:txBody>
      </p:sp>
      <p:sp>
        <p:nvSpPr>
          <p:cNvPr id="54" name="Shape 52"/>
          <p:cNvSpPr/>
          <p:nvPr/>
        </p:nvSpPr>
        <p:spPr>
          <a:xfrm>
            <a:off x="8252460" y="3374136"/>
            <a:ext cx="3113532" cy="1335024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62188" y="3483864"/>
            <a:ext cx="29306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8380476" y="3776472"/>
            <a:ext cx="28757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 Registrado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380476" y="4032504"/>
            <a:ext cx="28757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 En almacén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8380476" y="4288536"/>
            <a:ext cx="28757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 En tránsito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10222992" y="4873752"/>
            <a:ext cx="114300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77856" y="4910328"/>
            <a:ext cx="1033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Actualizar estado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992624" y="4946904"/>
            <a:ext cx="50932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Observación y cambio registrados en el historial</a:t>
            </a:r>
            <a:endParaRPr lang="en-US" sz="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Rastreo público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/rastrear?guide=PW-AAAA-0001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por guía y muestra estado actual.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66090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7860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 origen, destino, paquetes y fecha.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02666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94436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Despliega la línea de tiempo de eventos.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39242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31012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mostrar un punto de referencia en mapa.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67588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 cuando la guía no existe o es inválida.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Ingresar la guía.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estado e historial.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el mapa referencial si está disponible.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es referencial, no rastreo GPS en tiempo real; usa cartografía de OpenStreetMap.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5" name="Shape 43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va tu envío?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992624" y="2935224"/>
            <a:ext cx="6373368" cy="34747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02352" y="3035808"/>
            <a:ext cx="51846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Número de guía  ·  PW-2026-0001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10588752" y="2971800"/>
            <a:ext cx="658368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643616" y="30083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Buscar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4992624" y="3374136"/>
            <a:ext cx="3113532" cy="1335024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02352" y="3483864"/>
            <a:ext cx="29306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DEL ENVÍO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102352" y="3749040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Origen · Lima Centro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102352" y="3950208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Destino · Chancay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5102352" y="4151376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Paquetes · 1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102352" y="4352544"/>
            <a:ext cx="29306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· 1 kg</a:t>
            </a:r>
            <a:endParaRPr lang="en-US" sz="600" dirty="0"/>
          </a:p>
        </p:txBody>
      </p:sp>
      <p:sp>
        <p:nvSpPr>
          <p:cNvPr id="58" name="Shape 56"/>
          <p:cNvSpPr/>
          <p:nvPr/>
        </p:nvSpPr>
        <p:spPr>
          <a:xfrm>
            <a:off x="8252460" y="3374136"/>
            <a:ext cx="3113532" cy="1335024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62188" y="3483864"/>
            <a:ext cx="29306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8380476" y="3776472"/>
            <a:ext cx="28757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 Registrado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8380476" y="4032504"/>
            <a:ext cx="28757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 En almacén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380476" y="4288536"/>
            <a:ext cx="28757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 En tránsito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4992624" y="4846320"/>
            <a:ext cx="6373368" cy="640080"/>
          </a:xfrm>
          <a:prstGeom prst="roundRect">
            <a:avLst/>
          </a:prstGeom>
          <a:solidFill>
            <a:srgbClr val="E8EFEB"/>
          </a:solidFill>
          <a:ln w="5715">
            <a:solidFill>
              <a:srgbClr val="E8EFE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29784" y="5056632"/>
            <a:ext cx="6099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referencia del envío · ubicación referencial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Libro de Reclamaciones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/libro-de-reclamaciones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consumidor y medio de contacto.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66090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7860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Incluye datos de representante para menores.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02666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94436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 servicio/producto, monto y guía opcional.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39242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31012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Distingue reclamo de queja y captura el pedido.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675888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elegir respuesta por correo o domicilio.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Completar identificación y solicitud.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token y campos obligatorios.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y abrir la constancia privada.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se informa en hasta 15 días hábiles. La hoja no requiere cuenta ni pago.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5" name="Shape 43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Libro de Reclamaciones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992624" y="2971800"/>
            <a:ext cx="2241743" cy="2852928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F8ED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02352" y="3108960"/>
            <a:ext cx="202228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 escuchamos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102352" y="3429000"/>
            <a:ext cx="20222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Reclamo o queja</a:t>
            </a:r>
            <a:endParaRPr lang="en-US" sz="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hasta 15 días hábiles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483450" y="2999232"/>
            <a:ext cx="3882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Identificación del consumidor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483450" y="3227832"/>
            <a:ext cx="388254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completo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7483450" y="3364992"/>
            <a:ext cx="388254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56602" y="3410712"/>
            <a:ext cx="37362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y apellidos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7483450" y="3739896"/>
            <a:ext cx="388254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 / teléfono</a:t>
            </a:r>
            <a:endParaRPr lang="en-US" sz="600" dirty="0"/>
          </a:p>
        </p:txBody>
      </p:sp>
      <p:sp>
        <p:nvSpPr>
          <p:cNvPr id="56" name="Shape 54"/>
          <p:cNvSpPr/>
          <p:nvPr/>
        </p:nvSpPr>
        <p:spPr>
          <a:xfrm>
            <a:off x="7483450" y="3877056"/>
            <a:ext cx="3882542" cy="256032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56602" y="3922776"/>
            <a:ext cx="37362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DNI · contacto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7483450" y="4270248"/>
            <a:ext cx="3882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Producto o servicio  ·  3. Pedido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7483450" y="4507992"/>
            <a:ext cx="3882542" cy="47548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74890" y="4617720"/>
            <a:ext cx="36996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lo ocurrido y la solución que solicitas…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7483450" y="5084064"/>
            <a:ext cx="86868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38314" y="5120640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hoja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Constancia de reclamación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/libro-de-reclamaciones/constancia/{token}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número correlativo y fecha de registro.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 una copia de los datos enviados.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 si la atención sigue pendiente o respondida.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imprimir o guardar la página como PDF.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la hoja.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el enlace privado y la constancia.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la respuesta desde ese enlace.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enlace contiene datos personales: el sistema advierte que no debe compartirse.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586984" y="2606040"/>
            <a:ext cx="5184648" cy="3310128"/>
          </a:xfrm>
          <a:prstGeom prst="roundRect">
            <a:avLst/>
          </a:prstGeom>
          <a:solidFill>
            <a:srgbClr val="FCFCFB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79008" y="2770632"/>
            <a:ext cx="4818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·  HOJA DE RECLAMACIÓN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779008" y="3044952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PW-WEB-000001   ·   Fecha de registro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97296" y="3364992"/>
            <a:ext cx="47731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Identificación del consumidor</a:t>
            </a:r>
            <a:endParaRPr lang="en-US" sz="630" dirty="0"/>
          </a:p>
        </p:txBody>
      </p:sp>
      <p:sp>
        <p:nvSpPr>
          <p:cNvPr id="49" name="Shape 47"/>
          <p:cNvSpPr/>
          <p:nvPr/>
        </p:nvSpPr>
        <p:spPr>
          <a:xfrm>
            <a:off x="5797296" y="3547872"/>
            <a:ext cx="4773168" cy="9144"/>
          </a:xfrm>
          <a:prstGeom prst="rect">
            <a:avLst/>
          </a:prstGeom>
          <a:solidFill>
            <a:srgbClr val="D9DDE0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97296" y="3712464"/>
            <a:ext cx="47731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3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· Documento · Domicilio · Correo</a:t>
            </a:r>
            <a:endParaRPr lang="en-US" sz="630" dirty="0"/>
          </a:p>
        </p:txBody>
      </p:sp>
      <p:sp>
        <p:nvSpPr>
          <p:cNvPr id="51" name="Shape 49"/>
          <p:cNvSpPr/>
          <p:nvPr/>
        </p:nvSpPr>
        <p:spPr>
          <a:xfrm>
            <a:off x="5797296" y="3895344"/>
            <a:ext cx="4773168" cy="9144"/>
          </a:xfrm>
          <a:prstGeom prst="rect">
            <a:avLst/>
          </a:prstGeom>
          <a:solidFill>
            <a:srgbClr val="D9DDE0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97296" y="4059936"/>
            <a:ext cx="47731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Bien contratado y descripción</a:t>
            </a:r>
            <a:endParaRPr lang="en-US" sz="630" dirty="0"/>
          </a:p>
        </p:txBody>
      </p:sp>
      <p:sp>
        <p:nvSpPr>
          <p:cNvPr id="53" name="Shape 51"/>
          <p:cNvSpPr/>
          <p:nvPr/>
        </p:nvSpPr>
        <p:spPr>
          <a:xfrm>
            <a:off x="5797296" y="4242816"/>
            <a:ext cx="4773168" cy="9144"/>
          </a:xfrm>
          <a:prstGeom prst="rect">
            <a:avLst/>
          </a:prstGeom>
          <a:solidFill>
            <a:srgbClr val="D9DDE0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97296" y="4407408"/>
            <a:ext cx="47731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3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Detalle del reclamo y pedido</a:t>
            </a:r>
            <a:endParaRPr lang="en-US" sz="630" dirty="0"/>
          </a:p>
        </p:txBody>
      </p:sp>
      <p:sp>
        <p:nvSpPr>
          <p:cNvPr id="55" name="Shape 53"/>
          <p:cNvSpPr/>
          <p:nvPr/>
        </p:nvSpPr>
        <p:spPr>
          <a:xfrm>
            <a:off x="5797296" y="4590288"/>
            <a:ext cx="4773168" cy="9144"/>
          </a:xfrm>
          <a:prstGeom prst="rect">
            <a:avLst/>
          </a:prstGeom>
          <a:solidFill>
            <a:srgbClr val="D9DDE0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4754880"/>
            <a:ext cx="47731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Respuesta del proveedor</a:t>
            </a:r>
            <a:endParaRPr lang="en-US" sz="630" dirty="0"/>
          </a:p>
        </p:txBody>
      </p:sp>
      <p:sp>
        <p:nvSpPr>
          <p:cNvPr id="57" name="Shape 55"/>
          <p:cNvSpPr/>
          <p:nvPr/>
        </p:nvSpPr>
        <p:spPr>
          <a:xfrm>
            <a:off x="9034272" y="5550408"/>
            <a:ext cx="155448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089136" y="5586984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Imprimir / guardar PDF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Atención de reclamaciones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/admin/reclamaciones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hojas, consumidor, solicitud y medio elegido.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revisar la constancia completa.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 respuesta y referencia de entrega.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 la constancia del consumidor.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la hoja y el canal de respuesta.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Gestionar la respuesta fuera del sistema.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texto y referencia de entrega.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formulario documenta una respuesta enviada; no envía correos ni cartas por sí mismo.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Atención de reclamaciones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992624" y="2971800"/>
            <a:ext cx="6373368" cy="438912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F8ED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0640" y="3108960"/>
            <a:ext cx="6117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PW-WEB-000001  ·  Reclamo  ·  Cliente: María Quispe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92624" y="3557016"/>
            <a:ext cx="6373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Detalle del consumidor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4992624" y="3767328"/>
            <a:ext cx="6373368" cy="493776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02352" y="3904488"/>
            <a:ext cx="6153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Descripción del reclamo y solicitud registrada…</a:t>
            </a:r>
            <a:endParaRPr lang="en-US" sz="570" dirty="0"/>
          </a:p>
        </p:txBody>
      </p:sp>
      <p:sp>
        <p:nvSpPr>
          <p:cNvPr id="51" name="Text 49"/>
          <p:cNvSpPr/>
          <p:nvPr/>
        </p:nvSpPr>
        <p:spPr>
          <a:xfrm>
            <a:off x="4992624" y="4416552"/>
            <a:ext cx="6373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y acciones adoptadas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4992624" y="4617720"/>
            <a:ext cx="6373368" cy="512064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02352" y="4764024"/>
            <a:ext cx="6153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 respuesta que se comunicó al consumidor…</a:t>
            </a:r>
            <a:endParaRPr lang="en-US" sz="570" dirty="0"/>
          </a:p>
        </p:txBody>
      </p:sp>
      <p:sp>
        <p:nvSpPr>
          <p:cNvPr id="54" name="Shape 52"/>
          <p:cNvSpPr/>
          <p:nvPr/>
        </p:nvSpPr>
        <p:spPr>
          <a:xfrm>
            <a:off x="9948672" y="5239512"/>
            <a:ext cx="1417320" cy="274320"/>
          </a:xfrm>
          <a:prstGeom prst="roundRect">
            <a:avLst/>
          </a:prstGeom>
          <a:solidFill>
            <a:srgbClr val="2D777B"/>
          </a:solidFill>
          <a:ln w="5715">
            <a:solidFill>
              <a:srgbClr val="2D777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03536" y="5276088"/>
            <a:ext cx="1307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respuesta enviada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frecuentes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/ayuda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destinos, tarifas y solicitud de envíos.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el uso de la guía de rastreo.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Aclara que es una aplicación de demostración.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Ofrece un acceso directo al cotizador.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Centro de ayuda desde el pie.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la pregunta relacionada.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 al flujo de cotización si se necesita.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ayuda advierte que los envíos son de prueba y se restablecen al reiniciar.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frecuentes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992624" y="2971800"/>
            <a:ext cx="1261872" cy="2852928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F5F6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84064" y="3099816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Centro de ayuda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5084064" y="3383280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</a:t>
            </a:r>
            <a:endParaRPr lang="en-US" sz="570" dirty="0"/>
          </a:p>
        </p:txBody>
      </p:sp>
      <p:sp>
        <p:nvSpPr>
          <p:cNvPr id="49" name="Text 47"/>
          <p:cNvSpPr/>
          <p:nvPr/>
        </p:nvSpPr>
        <p:spPr>
          <a:xfrm>
            <a:off x="5084064" y="3639312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Tarifas</a:t>
            </a:r>
            <a:endParaRPr lang="en-US" sz="570" dirty="0"/>
          </a:p>
        </p:txBody>
      </p:sp>
      <p:sp>
        <p:nvSpPr>
          <p:cNvPr id="50" name="Text 48"/>
          <p:cNvSpPr/>
          <p:nvPr/>
        </p:nvSpPr>
        <p:spPr>
          <a:xfrm>
            <a:off x="5084064" y="3895344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</a:t>
            </a:r>
            <a:endParaRPr lang="en-US" sz="570" dirty="0"/>
          </a:p>
        </p:txBody>
      </p:sp>
      <p:sp>
        <p:nvSpPr>
          <p:cNvPr id="51" name="Text 49"/>
          <p:cNvSpPr/>
          <p:nvPr/>
        </p:nvSpPr>
        <p:spPr>
          <a:xfrm>
            <a:off x="5084064" y="4151376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personales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6409944" y="29900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19672" y="30815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destinos puedo cotizar?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6519672" y="33009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409944" y="36758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19672" y="37673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se calcula el precio?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519672" y="39867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6409944" y="43616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19672" y="44531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consulto el envío?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6519672" y="46725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Términos y condiciones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/terminos-y-condiciones  |  /terminos redirige aquí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proveedor y cobertura disponible.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tarifas, contratación y preparación.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 entrega, seguimiento e incidencias.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Detalla derechos, datos y canal de reclamos.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desde el pie de página.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Navegar por el índice de secciones.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 al libro de reclamaciones cuando corresponda.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cotización no constituye por sí sola contratación ni comprobante de pago.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Términos y condiciones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992624" y="2971800"/>
            <a:ext cx="1261872" cy="2852928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F5F6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84064" y="3099816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esta página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5084064" y="3383280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</a:t>
            </a:r>
            <a:endParaRPr lang="en-US" sz="570" dirty="0"/>
          </a:p>
        </p:txBody>
      </p:sp>
      <p:sp>
        <p:nvSpPr>
          <p:cNvPr id="49" name="Text 47"/>
          <p:cNvSpPr/>
          <p:nvPr/>
        </p:nvSpPr>
        <p:spPr>
          <a:xfrm>
            <a:off x="5084064" y="3639312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Tarifas</a:t>
            </a:r>
            <a:endParaRPr lang="en-US" sz="570" dirty="0"/>
          </a:p>
        </p:txBody>
      </p:sp>
      <p:sp>
        <p:nvSpPr>
          <p:cNvPr id="50" name="Text 48"/>
          <p:cNvSpPr/>
          <p:nvPr/>
        </p:nvSpPr>
        <p:spPr>
          <a:xfrm>
            <a:off x="5084064" y="3895344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</a:t>
            </a:r>
            <a:endParaRPr lang="en-US" sz="570" dirty="0"/>
          </a:p>
        </p:txBody>
      </p:sp>
      <p:sp>
        <p:nvSpPr>
          <p:cNvPr id="51" name="Text 49"/>
          <p:cNvSpPr/>
          <p:nvPr/>
        </p:nvSpPr>
        <p:spPr>
          <a:xfrm>
            <a:off x="5084064" y="4151376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personales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6409944" y="29900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19672" y="30815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destinos puedo cotizar?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6519672" y="33009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409944" y="36758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19672" y="37673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se calcula el precio?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519672" y="39867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6409944" y="43616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19672" y="44531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consulto el envío?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6519672" y="46725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Política de privacidad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Ventana: /privacidad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al responsable y sus datos de contacto.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datos tratados, finalidad y comunicación.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conservación, seguridad y derechos.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 cookies de sesión y servicios externos.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Privacidad desde el pie.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la sección del tratamiento.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Contactar al responsable para ejercer derechos.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página informa sobre OpenStreetMap, jsDelivr y la conservación de hojas de reclamo.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992624" y="2606040"/>
            <a:ext cx="6373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Política de privacidad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992624" y="2971800"/>
            <a:ext cx="1261872" cy="2852928"/>
          </a:xfrm>
          <a:prstGeom prst="roundRect">
            <a:avLst/>
          </a:prstGeom>
          <a:solidFill>
            <a:srgbClr val="F5F6F5"/>
          </a:solidFill>
          <a:ln w="5715">
            <a:solidFill>
              <a:srgbClr val="F5F6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84064" y="3099816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esta página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5084064" y="3383280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</a:t>
            </a:r>
            <a:endParaRPr lang="en-US" sz="570" dirty="0"/>
          </a:p>
        </p:txBody>
      </p:sp>
      <p:sp>
        <p:nvSpPr>
          <p:cNvPr id="49" name="Text 47"/>
          <p:cNvSpPr/>
          <p:nvPr/>
        </p:nvSpPr>
        <p:spPr>
          <a:xfrm>
            <a:off x="5084064" y="3639312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Tarifas</a:t>
            </a:r>
            <a:endParaRPr lang="en-US" sz="570" dirty="0"/>
          </a:p>
        </p:txBody>
      </p:sp>
      <p:sp>
        <p:nvSpPr>
          <p:cNvPr id="50" name="Text 48"/>
          <p:cNvSpPr/>
          <p:nvPr/>
        </p:nvSpPr>
        <p:spPr>
          <a:xfrm>
            <a:off x="5084064" y="3895344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</a:t>
            </a:r>
            <a:endParaRPr lang="en-US" sz="570" dirty="0"/>
          </a:p>
        </p:txBody>
      </p:sp>
      <p:sp>
        <p:nvSpPr>
          <p:cNvPr id="51" name="Text 49"/>
          <p:cNvSpPr/>
          <p:nvPr/>
        </p:nvSpPr>
        <p:spPr>
          <a:xfrm>
            <a:off x="5084064" y="4151376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personales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6409944" y="29900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19672" y="30815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destinos puedo cotizar?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6519672" y="33009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409944" y="36758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19672" y="37673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se calcula el precio?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519672" y="39867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6409944" y="4361688"/>
            <a:ext cx="4956048" cy="566928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D9DD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19672" y="4453128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consulto el envío?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6519672" y="4672584"/>
            <a:ext cx="4736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y condiciones del servicio Paway…</a:t>
            </a:r>
            <a:endParaRPr lang="en-US" sz="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926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DEL SISTEMA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65196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  /  GRUPO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6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Ventana de error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85216" y="117043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Vista: templates/error/4xx.html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3950208" cy="2532888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019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PERMITE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212848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Unifica respuestas para solicitud no disponible.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65176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que la página o el envío puede no existir.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172968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90672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el código de respuesta HTTP.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611880"/>
            <a:ext cx="109728" cy="109728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52958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Ofrece volver al inicio.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61688"/>
            <a:ext cx="3950208" cy="1801368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53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9536" y="4855464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48966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16736" y="4846320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Ocurre una ruta inexistente o dato inválido.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0412" y="5166360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" y="5568696"/>
            <a:ext cx="310896" cy="310896"/>
          </a:xfrm>
          <a:prstGeom prst="ellipse">
            <a:avLst/>
          </a:prstGeom>
          <a:solidFill>
            <a:srgbClr val="B01116"/>
          </a:solidFill>
          <a:ln w="12700">
            <a:solidFill>
              <a:srgbClr val="B011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56098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16736" y="5559552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aplicación muestra el código y el mensaje.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0412" y="5879592"/>
            <a:ext cx="0" cy="347472"/>
          </a:xfrm>
          <a:prstGeom prst="line">
            <a:avLst/>
          </a:prstGeom>
          <a:noFill/>
          <a:ln w="15240">
            <a:solidFill>
              <a:srgbClr val="D9DD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" y="6281928"/>
            <a:ext cx="310896" cy="310896"/>
          </a:xfrm>
          <a:prstGeom prst="ellipse">
            <a:avLst/>
          </a:prstGeom>
          <a:solidFill>
            <a:srgbClr val="2D777B"/>
          </a:solidFill>
          <a:ln w="12700">
            <a:solidFill>
              <a:srgbClr val="2D777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63230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316736" y="62727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usuario vuelve al inicio y retoma el flujo.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927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Incluye errores de recurso inexistente, validación o conflicto de operación.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36592" y="14813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7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REPRESENTATIVA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36592" y="1664208"/>
            <a:ext cx="68854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8890">
            <a:solidFill>
              <a:srgbClr val="D9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1737360"/>
            <a:ext cx="6739128" cy="274320"/>
          </a:xfrm>
          <a:prstGeom prst="roundRect">
            <a:avLst/>
          </a:prstGeom>
          <a:solidFill>
            <a:srgbClr val="ECEEED"/>
          </a:solidFill>
          <a:ln w="5715">
            <a:solidFill>
              <a:srgbClr val="ECEE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01184" y="1819656"/>
            <a:ext cx="73152" cy="73152"/>
          </a:xfrm>
          <a:prstGeom prst="ellipse">
            <a:avLst/>
          </a:prstGeom>
          <a:solidFill>
            <a:srgbClr val="E56D68"/>
          </a:solidFill>
          <a:ln w="12700">
            <a:solidFill>
              <a:srgbClr val="E56D6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7488" y="1819656"/>
            <a:ext cx="73152" cy="73152"/>
          </a:xfrm>
          <a:prstGeom prst="ellipse">
            <a:avLst/>
          </a:prstGeom>
          <a:solidFill>
            <a:srgbClr val="E8B653"/>
          </a:solidFill>
          <a:ln w="12700">
            <a:solidFill>
              <a:srgbClr val="E8B65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3792" y="1819656"/>
            <a:ext cx="73152" cy="73152"/>
          </a:xfrm>
          <a:prstGeom prst="ellipse">
            <a:avLst/>
          </a:prstGeom>
          <a:solidFill>
            <a:srgbClr val="6EA987"/>
          </a:solidFill>
          <a:ln w="12700">
            <a:solidFill>
              <a:srgbClr val="6EA98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1783080"/>
            <a:ext cx="5925312" cy="182880"/>
          </a:xfrm>
          <a:prstGeom prst="roundRect">
            <a:avLst/>
          </a:prstGeom>
          <a:solidFill>
            <a:srgbClr val="FFFFFF"/>
          </a:solidFill>
          <a:ln w="571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272" y="1810512"/>
            <a:ext cx="5696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localhost:5000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809744" y="2075688"/>
            <a:ext cx="673912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F0F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56048" y="21488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Paway.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9592" y="2176272"/>
            <a:ext cx="4645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  Cotizar   Rastrear   Mis envíos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10799064" y="2139696"/>
            <a:ext cx="621792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53928" y="21762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Entrar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650992" y="3026664"/>
            <a:ext cx="5056632" cy="1965960"/>
          </a:xfrm>
          <a:prstGeom prst="roundRect">
            <a:avLst/>
          </a:prstGeom>
          <a:solidFill>
            <a:srgbClr val="F8EDEC"/>
          </a:solidFill>
          <a:ln w="5715">
            <a:solidFill>
              <a:srgbClr val="F8ED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33872" y="3291840"/>
            <a:ext cx="4690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11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404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5833872" y="3886200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026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pudimos completar tu solicitud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833872" y="4206240"/>
            <a:ext cx="4690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60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página o el envío no existe o no está disponible.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7676388" y="4507992"/>
            <a:ext cx="1005840" cy="274320"/>
          </a:xfrm>
          <a:prstGeom prst="roundRect">
            <a:avLst/>
          </a:prstGeom>
          <a:solidFill>
            <a:srgbClr val="B01116"/>
          </a:solidFill>
          <a:ln w="5715">
            <a:solidFill>
              <a:srgbClr val="B0111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1252" y="4544568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Volver al inicio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Grupo 5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Paway | Guía de funcionamiento por ventanas</dc:title>
  <dc:subject>Funcionamiento de la aplicación Paway</dc:subject>
  <dc:creator>Grupo 5</dc:creator>
  <cp:lastModifiedBy>Grupo 5</cp:lastModifiedBy>
  <cp:revision>1</cp:revision>
  <dcterms:created xsi:type="dcterms:W3CDTF">2026-10-29T00:05:35Z</dcterms:created>
  <dcterms:modified xsi:type="dcterms:W3CDTF">2026-10-29T00:05:35Z</dcterms:modified>
</cp:coreProperties>
</file>