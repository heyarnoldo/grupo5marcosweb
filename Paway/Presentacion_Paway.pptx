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pic>
        <p:nvPicPr>
          <p:cNvPr id="3" name="Image 0" descr="C:\Users\LAB-USR-ATE\Downloads\Laboratorio2\Grupo5MarcosWeb\Paway\src\main\resources\static\images\logo-paw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73152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8321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8745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funciona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Paway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35295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completo por cada ventana del sistema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808" y="4389120"/>
            <a:ext cx="914400" cy="73152"/>
          </a:xfrm>
          <a:prstGeom prst="rect">
            <a:avLst/>
          </a:prstGeom>
          <a:solidFill>
            <a:srgbClr val="E5A644"/>
          </a:solidFill>
          <a:ln w="12700">
            <a:solidFill>
              <a:srgbClr val="E5A644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Cotizar · registrar · rastrear · atender</a:t>
            </a:r>
            <a:endParaRPr lang="en-US" sz="1300" dirty="0"/>
          </a:p>
        </p:txBody>
      </p:sp>
      <p:pic>
        <p:nvPicPr>
          <p:cNvPr id="9" name="Image 1" descr="C:\Users\LAB-USR-ATE\Downloads\Laboratorio2\Grupo5MarcosWeb\Paway\src\main\resources\static\images\paway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45920"/>
            <a:ext cx="5760720" cy="30266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61447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funcional del proyecto web · Octubre 2026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47120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RECORRER LAS VENTANAS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solo flujo, dos perfiles de trabajo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organiza las operaciones de envío y la atención al consumidor en una aplicación Spring Boot.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73152" cy="10241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0116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23682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Cotiza y solicita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38728" y="18288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828800"/>
            <a:ext cx="73152" cy="1024128"/>
          </a:xfrm>
          <a:prstGeom prst="rect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20116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Envío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58184" y="23682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valida y registra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19088" y="18288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1828800"/>
            <a:ext cx="73152" cy="10241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0116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38544" y="23682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 estados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99448" y="18288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99448" y="1828800"/>
            <a:ext cx="73152" cy="1024128"/>
          </a:xfrm>
          <a:prstGeom prst="rect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8904" y="20116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Rastreo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18904" y="23682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la guía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324612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324612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conecta las ventanas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60120" y="4032504"/>
            <a:ext cx="109728" cy="109728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39502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MVC atiende las rutas y formularios.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4453128"/>
            <a:ext cx="109728" cy="109728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3708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Thymeleaf renderiza las vistas compartidas.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" y="4873752"/>
            <a:ext cx="109728" cy="109728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79145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Java calculan tarifas y gestionan envíos.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0120" y="5294376"/>
            <a:ext cx="109728" cy="109728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5212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JSON carga distritos según la provincia.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73952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 la demostración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01384" y="4032504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9984" y="39502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sin contraseña; no es autenticación real.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01384" y="445312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43708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Envíos de ejemplo guardados en memoria.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01384" y="487375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479145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Reclamos guardados como archivos XML locales.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01384" y="529437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9984" y="5212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conexión a base de datos ni envío automático.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Inicio | punto de entrada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directa de envíos por número de guía.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rápidos para enviar, rastrear y cotizar.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el proceso en tres pasos y la cobertura.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Enlaces a ayuda, privacidad, términos y reclamos.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Ingresar una guía o elegir una acción.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 al cotizador, rastreo o perfil.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 el flujo elegido.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navegación y el pie de página se comparten con las demás ventanas.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Cotizador de envíos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/cotizar  |  API: /api/v1/destinos/{provincia}/distritos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Provincia, distrito, categoría, peso y cantidad.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Desglose de base, sobrepeso, recargo y total.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cobertura, distrito y límites del paquete.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lista de distritos cambia según la provincia.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destino y características.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tarifa en el servidor.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envío y conservar la cotización.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Fórmula: (base + sobrepeso desde 2 kg + categoría) × paquetes. El servidor recalcula el total.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Selección de perfil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Ventanas: /login  |  POST /login  |  POST /logout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continuar como Brayan, María o administrador.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consulta su historial y solicita envíos.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administrador gestiona envíos y estados.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sesión invalida el perfil de la sesión.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Entrar o solicitar un envío.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un perfil de demostración.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 al panel correspondiente.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autenticación con usuario y contraseña: es una selección de perfil para demostración.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 de envío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Ventanas: /cliente/envios/nuevo  |  /admin/envios/nuevo  |  /admin/envios/{id}/editar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del destinatario, DNI y agencia de origen.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00837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92608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Destino, categoría, peso, cantidad y observación.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60273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2044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administración se selecciona el cliente.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19709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1148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cliente se le asigna su perfil automáticamente.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479145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70916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Edición conserva guía, estado e historial.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datos personales y del paquete.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en servidor y recalcular importe.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y volver al panel del perfil.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envío inicia como REGISTRADO y recibe una guía PW-año-correlativo.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del cliente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/cliente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los datos del cliente seleccionado.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sus envíos y estadísticas por estado.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seguir cada envío desde su guía.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acceso para cotizar un nuevo envío.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 con perfil de cliente.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el historial propio.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rastreo o iniciar otra cotización.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lista se filtra por cliente. Los perfiles son datos de demostración.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administrativo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por guía o nombre del destinatario.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00837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92608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 por estado y agencia de origen.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60273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2044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Paginación de cinco resultados por página.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19709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1148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por estado y actividad por agencia.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479145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70916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Registra, abre, edita o anula envíos.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indicadores y listado.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o abrir el detalle de una guía.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el envío desde su ficha.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anulación conserva guía e historial y bloquea modificaciones posteriores.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 del envío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/admin/envios/{id}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cliente, destinatario, origen y destino.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00837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92608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paquetes, peso, importe y guía.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60273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2044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el historial completo de estados.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19709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1148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Enlaza al rastreo público y a la edición.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479145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70916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añadir estado y observación.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Ver desde administración.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datos e historial.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estado y registrar observación.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queda disponible en el rastreo público; los envíos anulados no se editan.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Rastreo público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/rastrear?guide=PW-AAAA-0001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por guía y muestra estado actual.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00837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92608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 origen, destino, paquetes y fecha.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60273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2044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Despliega la línea de tiempo de eventos.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19709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1148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mostrar un punto de referencia en mapa.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479145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70916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 cuando la guía no existe o es inválida.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Ingresar la guía.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estado e historial.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mapa referencial si está disponible.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es referencial, no rastreo GPS en tiempo real; usa cartografía de OpenStreetMap.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Libro de Reclamaciones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/libro-de-reclamaciones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consumidor y medio de contacto.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00837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92608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datos de representante para menores.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60273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2044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servicio/producto, monto y guía opcional.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19709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1148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reclamo de queja y captura el pedido.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479145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70916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elegir respuesta por correo o domicilio.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identificación y solicitud.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token y campos obligatorios.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y abrir la constancia privada.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se informa en hasta 15 días hábiles. La hoja no requiere cuenta ni pago.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Constancia de reclamación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/libro-de-reclamaciones/constancia/{token}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número correlativo y fecha de registro.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una copia de los datos enviados.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si la atención sigue pendiente o respondida.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imprimir o guardar la página como PDF.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la hoja.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el enlace privado y la constancia.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la respuesta desde ese enlace.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enlace contiene datos personales: el sistema advierte que no debe compartirse.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de reclamaciones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/admin/reclamaciones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hojas, consumidor, solicitud y medio elegido.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revisar la constancia completa.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respuesta y referencia de entrega.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 la constancia del consumidor.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la hoja y el canal de respuesta.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la respuesta fuera del sistema.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texto y referencia de entrega.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formulario documenta una respuesta enviada; no envía correos ni cartas por sí mismo.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frecuentes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/ayuda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destinos, tarifas y solicitud de envíos.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el uso de la guía de rastreo.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Aclara que es una aplicación de demostración.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Ofrece un acceso directo al cotizador.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Centro de ayuda desde el pie.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la pregunta relacionada.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 al flujo de cotización si se necesita.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ayuda advierte que los envíos son de prueba y se restablecen al reiniciar.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Términos y condiciones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/terminos-y-condiciones  |  /terminos redirige aquí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proveedor y cobertura disponible.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tarifas, contratación y preparación.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entrega, seguimiento e incidencias.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Detalla derechos, datos y canal de reclamos.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desde el pie de página.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Navegar por el índice de secciones.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 al libro de reclamaciones cuando corresponda.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cotización no constituye por sí sola contratación ni comprobante de pago.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Política de privacidad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Ventana: /privacidad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al responsable y sus datos de contacto.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datos tratados, finalidad y comunicación.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conservación, seguridad y derechos.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 cookies de sesión y servicios externos.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Privacidad desde el pie.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la sección del tratamiento.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Contactar al responsable para ejercer derechos.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informa sobre OpenStreetMap, jsDelivr y la conservación de hojas de reclamo.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DEL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PAWAY  /  GRUPO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Ventana de error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Vista: templates/error/4xx.html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44068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64208"/>
            <a:ext cx="5422392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8890">
            <a:solidFill>
              <a:srgbClr val="D9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PERMITE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Unifica respuestas para solicitud no disponible.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27248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que la página o el envío puede no existir.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758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el código de respuesta HTTP.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553712"/>
            <a:ext cx="109728" cy="109728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Ofrece volver al inicio.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938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D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340864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820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Ocurre una ruta inexistente o dato inválido.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88836" y="2651760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B01116"/>
          </a:solidFill>
          <a:ln w="12700">
            <a:solidFill>
              <a:srgbClr val="B011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952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044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muestra el código y el mensaje.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88836" y="3364992"/>
            <a:ext cx="0" cy="347472"/>
          </a:xfrm>
          <a:prstGeom prst="line">
            <a:avLst/>
          </a:prstGeom>
          <a:noFill/>
          <a:ln w="15240">
            <a:solidFill>
              <a:srgbClr val="D9DD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2D777B"/>
          </a:solidFill>
          <a:ln w="12700">
            <a:solidFill>
              <a:srgbClr val="2D77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8084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7581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vuelve al inicio y retoma el flujo.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093208"/>
            <a:ext cx="4800600" cy="0"/>
          </a:xfrm>
          <a:prstGeom prst="line">
            <a:avLst/>
          </a:prstGeom>
          <a:noFill/>
          <a:ln w="11430">
            <a:solidFill>
              <a:srgbClr val="D9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285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CLAVE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errores de recurso inexistente, validación o conflicto de operación.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Grupo 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Paway | Guía de funcionamiento por ventanas</dc:title>
  <dc:subject>Funcionamiento de la aplicación Paway</dc:subject>
  <dc:creator>Grupo 5</dc:creator>
  <cp:lastModifiedBy>Grupo 5</cp:lastModifiedBy>
  <cp:revision>1</cp:revision>
  <dcterms:created xsi:type="dcterms:W3CDTF">2026-10-28T23:45:55Z</dcterms:created>
  <dcterms:modified xsi:type="dcterms:W3CDTF">2026-10-28T23:45:55Z</dcterms:modified>
</cp:coreProperties>
</file>